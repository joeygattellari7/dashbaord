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5A7C"/>
              </a:solidFill>
              <a:effectLst/>
            </c:spPr>
          </c:dPt>
          <c:dPt>
            <c:idx val="1"/>
            <c:bubble3D val="0"/>
            <c:spPr>
              <a:solidFill>
                <a:srgbClr val="FF5C28"/>
              </a:solidFill>
              <a:effectLst/>
            </c:spPr>
          </c:dPt>
          <c:dPt>
            <c:idx val="2"/>
            <c:bubble3D val="0"/>
            <c:spPr>
              <a:solidFill>
                <a:srgbClr val="FFAA44"/>
              </a:solidFill>
              <a:effectLst/>
            </c:spPr>
          </c:dPt>
          <c:dPt>
            <c:idx val="3"/>
            <c:bubble3D val="0"/>
            <c:spPr>
              <a:solidFill>
                <a:srgbClr val="3ECDB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Brand &amp; Awareness</c:v>
                </c:pt>
                <c:pt idx="1">
                  <c:v>App Install</c:v>
                </c:pt>
                <c:pt idx="2">
                  <c:v>App Reactivation</c:v>
                </c:pt>
                <c:pt idx="3">
                  <c:v>App Registration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240100</c:v>
                </c:pt>
                <c:pt idx="1">
                  <c:v>8800</c:v>
                </c:pt>
                <c:pt idx="2">
                  <c:v>3600</c:v>
                </c:pt>
                <c:pt idx="3">
                  <c:v>2500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8A9BB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F5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Jul 25</c:v>
                  </c:pt>
                  <c:pt idx="1">
                    <c:v>Aug 25</c:v>
                  </c:pt>
                  <c:pt idx="2">
                    <c:v>Sep 25</c:v>
                  </c:pt>
                  <c:pt idx="3">
                    <c:v>Oct 25</c:v>
                  </c:pt>
                  <c:pt idx="4">
                    <c:v>Nov 25</c:v>
                  </c:pt>
                  <c:pt idx="5">
                    <c:v>Dec 25</c:v>
                  </c:pt>
                  <c:pt idx="6">
                    <c:v>Jan 26</c:v>
                  </c:pt>
                  <c:pt idx="7">
                    <c:v>Feb 26</c:v>
                  </c:pt>
                  <c:pt idx="8">
                    <c:v>Mar 26</c:v>
                  </c:pt>
                  <c:pt idx="9">
                    <c:v>Apr 26</c:v>
                  </c:pt>
                  <c:pt idx="10">
                    <c:v>May 26</c:v>
                  </c:pt>
                  <c:pt idx="11">
                    <c:v>Jun 26</c:v>
                  </c:pt>
                  <c:pt idx="12">
                    <c:v>Jul 26</c:v>
                  </c:pt>
                  <c:pt idx="13">
                    <c:v>Aug 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14</c:v>
                </c:pt>
                <c:pt idx="4">
                  <c:v>50</c:v>
                </c:pt>
                <c:pt idx="5">
                  <c:v>38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14</c:v>
                </c:pt>
                <c:pt idx="10">
                  <c:v>14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FF5C28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C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AA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Current CPI
(Oakberry)</c:v>
                  </c:pt>
                  <c:pt idx="1">
                    <c:v>GMS Target
CPI</c:v>
                  </c:pt>
                  <c:pt idx="2">
                    <c:v>AU Food App
Benchmark</c:v>
                  </c:pt>
                  <c:pt idx="3">
                    <c:v>Rebalanced
(Projection)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6.13</c:v>
                </c:pt>
                <c:pt idx="1">
                  <c:v>3.5</c:v>
                </c:pt>
                <c:pt idx="2">
                  <c:v>4.2</c:v>
                </c:pt>
                <c:pt idx="3">
                  <c:v>4.8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 share of sales (%)</c:v>
                </c:pt>
              </c:strCache>
            </c:strRef>
          </c:tx>
          <c:spPr>
            <a:solidFill>
              <a:srgbClr val="FF5C28"/>
            </a:solidFill>
            <a:ln w="25400" cap="flat">
              <a:solidFill>
                <a:srgbClr val="FF5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C28"/>
              </a:solidFill>
              <a:ln w="9525" cap="flat">
                <a:solidFill>
                  <a:srgbClr val="FF5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Jul 25</c:v>
                  </c:pt>
                  <c:pt idx="1">
                    <c:v>Aug 25</c:v>
                  </c:pt>
                  <c:pt idx="2">
                    <c:v>Sep 25</c:v>
                  </c:pt>
                  <c:pt idx="3">
                    <c:v>Oct 25</c:v>
                  </c:pt>
                  <c:pt idx="4">
                    <c:v>Nov 25</c:v>
                  </c:pt>
                  <c:pt idx="5">
                    <c:v>Dec 25</c:v>
                  </c:pt>
                  <c:pt idx="6">
                    <c:v>Jan 26</c:v>
                  </c:pt>
                  <c:pt idx="7">
                    <c:v>Feb 26</c:v>
                  </c:pt>
                  <c:pt idx="8">
                    <c:v>Mar 26</c:v>
                  </c:pt>
                  <c:pt idx="9">
                    <c:v>Apr 26</c:v>
                  </c:pt>
                  <c:pt idx="10">
                    <c:v>May 26</c:v>
                  </c:pt>
                  <c:pt idx="11">
                    <c:v>Jun 26</c:v>
                  </c:pt>
                  <c:pt idx="12">
                    <c:v>Jul 26</c:v>
                  </c:pt>
                  <c:pt idx="13">
                    <c:v>Aug 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</c:v>
                </c:pt>
                <c:pt idx="1">
                  <c:v>9.8</c:v>
                </c:pt>
                <c:pt idx="2">
                  <c:v>7.5</c:v>
                </c:pt>
                <c:pt idx="3">
                  <c:v>12.7</c:v>
                </c:pt>
                <c:pt idx="4">
                  <c:v>16.3</c:v>
                </c:pt>
                <c:pt idx="5">
                  <c:v>12.5</c:v>
                </c:pt>
                <c:pt idx="6">
                  <c:v>13.8</c:v>
                </c:pt>
                <c:pt idx="7">
                  <c:v>14.3</c:v>
                </c:pt>
                <c:pt idx="8">
                  <c:v>14.8</c:v>
                </c:pt>
                <c:pt idx="9">
                  <c:v>18.2</c:v>
                </c:pt>
                <c:pt idx="10">
                  <c:v>18.2</c:v>
                </c:pt>
                <c:pt idx="11">
                  <c:v>17.6</c:v>
                </c:pt>
                <c:pt idx="12">
                  <c:v>19.3</c:v>
                </c:pt>
                <c:pt idx="13">
                  <c:v>19.1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Visits per member (index, Jul 25=100)</c:v>
                </c:pt>
              </c:strCache>
            </c:strRef>
          </c:tx>
          <c:spPr>
            <a:solidFill>
              <a:srgbClr val="3ECDB3"/>
            </a:solidFill>
            <a:ln w="25400" cap="flat">
              <a:solidFill>
                <a:srgbClr val="3ECDB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CDB3"/>
              </a:solidFill>
              <a:ln w="9525" cap="flat">
                <a:solidFill>
                  <a:srgbClr val="3ECD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Jul 25</c:v>
                  </c:pt>
                  <c:pt idx="1">
                    <c:v>Aug 25</c:v>
                  </c:pt>
                  <c:pt idx="2">
                    <c:v>Sep 25</c:v>
                  </c:pt>
                  <c:pt idx="3">
                    <c:v>Oct 25</c:v>
                  </c:pt>
                  <c:pt idx="4">
                    <c:v>Nov 25</c:v>
                  </c:pt>
                  <c:pt idx="5">
                    <c:v>Dec 25</c:v>
                  </c:pt>
                  <c:pt idx="6">
                    <c:v>Jan 26</c:v>
                  </c:pt>
                  <c:pt idx="7">
                    <c:v>Feb 26</c:v>
                  </c:pt>
                  <c:pt idx="8">
                    <c:v>Mar 26</c:v>
                  </c:pt>
                  <c:pt idx="9">
                    <c:v>Apr 26</c:v>
                  </c:pt>
                  <c:pt idx="10">
                    <c:v>May 26</c:v>
                  </c:pt>
                  <c:pt idx="11">
                    <c:v>Jun 26</c:v>
                  </c:pt>
                  <c:pt idx="12">
                    <c:v>Jul 26</c:v>
                  </c:pt>
                  <c:pt idx="13">
                    <c:v>Aug 26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100</c:v>
                </c:pt>
                <c:pt idx="1">
                  <c:v>101</c:v>
                </c:pt>
                <c:pt idx="2">
                  <c:v>100</c:v>
                </c:pt>
                <c:pt idx="3">
                  <c:v>101</c:v>
                </c:pt>
                <c:pt idx="4">
                  <c:v>104</c:v>
                </c:pt>
                <c:pt idx="5">
                  <c:v>100</c:v>
                </c:pt>
                <c:pt idx="6">
                  <c:v>100</c:v>
                </c:pt>
                <c:pt idx="7">
                  <c:v>101</c:v>
                </c:pt>
                <c:pt idx="8">
                  <c:v>101</c:v>
                </c:pt>
                <c:pt idx="9">
                  <c:v>100</c:v>
                </c:pt>
                <c:pt idx="10">
                  <c:v>101</c:v>
                </c:pt>
                <c:pt idx="11">
                  <c:v>100</c:v>
                </c:pt>
                <c:pt idx="12">
                  <c:v>101</c:v>
                </c:pt>
                <c:pt idx="13">
                  <c:v>102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8A9BB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members (index)</c:v>
                </c:pt>
              </c:strCache>
            </c:strRef>
          </c:tx>
          <c:spPr>
            <a:solidFill>
              <a:srgbClr val="FF5C28"/>
            </a:solidFill>
            <a:ln w="25400" cap="flat">
              <a:solidFill>
                <a:srgbClr val="FF5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C28"/>
              </a:solidFill>
              <a:ln w="9525" cap="flat">
                <a:solidFill>
                  <a:srgbClr val="FF5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Jul 25</c:v>
                  </c:pt>
                  <c:pt idx="1">
                    <c:v>Aug 25</c:v>
                  </c:pt>
                  <c:pt idx="2">
                    <c:v>Sep 25</c:v>
                  </c:pt>
                  <c:pt idx="3">
                    <c:v>Oct 25</c:v>
                  </c:pt>
                  <c:pt idx="4">
                    <c:v>Nov 25</c:v>
                  </c:pt>
                  <c:pt idx="5">
                    <c:v>Dec 25</c:v>
                  </c:pt>
                  <c:pt idx="6">
                    <c:v>Jan 26</c:v>
                  </c:pt>
                  <c:pt idx="7">
                    <c:v>Feb 26</c:v>
                  </c:pt>
                  <c:pt idx="8">
                    <c:v>Mar 26</c:v>
                  </c:pt>
                  <c:pt idx="9">
                    <c:v>Apr 26</c:v>
                  </c:pt>
                  <c:pt idx="10">
                    <c:v>May 26</c:v>
                  </c:pt>
                  <c:pt idx="11">
                    <c:v>Jun 26</c:v>
                  </c:pt>
                  <c:pt idx="12">
                    <c:v>Jul 26</c:v>
                  </c:pt>
                  <c:pt idx="13">
                    <c:v>Aug 26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</c:v>
                </c:pt>
                <c:pt idx="1">
                  <c:v>150</c:v>
                </c:pt>
                <c:pt idx="2">
                  <c:v>160</c:v>
                </c:pt>
                <c:pt idx="3">
                  <c:v>245</c:v>
                </c:pt>
                <c:pt idx="4">
                  <c:v>360</c:v>
                </c:pt>
                <c:pt idx="5">
                  <c:v>295</c:v>
                </c:pt>
                <c:pt idx="6">
                  <c:v>315</c:v>
                </c:pt>
                <c:pt idx="7">
                  <c:v>300</c:v>
                </c:pt>
                <c:pt idx="8">
                  <c:v>275</c:v>
                </c:pt>
                <c:pt idx="9">
                  <c:v>240</c:v>
                </c:pt>
                <c:pt idx="10">
                  <c:v>215</c:v>
                </c:pt>
                <c:pt idx="11">
                  <c:v>215</c:v>
                </c:pt>
                <c:pt idx="12">
                  <c:v>225</c:v>
                </c:pt>
                <c:pt idx="13">
                  <c:v>255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Visits per member (index)</c:v>
                </c:pt>
              </c:strCache>
            </c:strRef>
          </c:tx>
          <c:spPr>
            <a:solidFill>
              <a:srgbClr val="3ECDB3"/>
            </a:solidFill>
            <a:ln w="25400" cap="flat">
              <a:solidFill>
                <a:srgbClr val="3ECDB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CDB3"/>
              </a:solidFill>
              <a:ln w="9525" cap="flat">
                <a:solidFill>
                  <a:srgbClr val="3ECD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Jul 25</c:v>
                  </c:pt>
                  <c:pt idx="1">
                    <c:v>Aug 25</c:v>
                  </c:pt>
                  <c:pt idx="2">
                    <c:v>Sep 25</c:v>
                  </c:pt>
                  <c:pt idx="3">
                    <c:v>Oct 25</c:v>
                  </c:pt>
                  <c:pt idx="4">
                    <c:v>Nov 25</c:v>
                  </c:pt>
                  <c:pt idx="5">
                    <c:v>Dec 25</c:v>
                  </c:pt>
                  <c:pt idx="6">
                    <c:v>Jan 26</c:v>
                  </c:pt>
                  <c:pt idx="7">
                    <c:v>Feb 26</c:v>
                  </c:pt>
                  <c:pt idx="8">
                    <c:v>Mar 26</c:v>
                  </c:pt>
                  <c:pt idx="9">
                    <c:v>Apr 26</c:v>
                  </c:pt>
                  <c:pt idx="10">
                    <c:v>May 26</c:v>
                  </c:pt>
                  <c:pt idx="11">
                    <c:v>Jun 26</c:v>
                  </c:pt>
                  <c:pt idx="12">
                    <c:v>Jul 26</c:v>
                  </c:pt>
                  <c:pt idx="13">
                    <c:v>Aug 26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100</c:v>
                </c:pt>
                <c:pt idx="1">
                  <c:v>101</c:v>
                </c:pt>
                <c:pt idx="2">
                  <c:v>100</c:v>
                </c:pt>
                <c:pt idx="3">
                  <c:v>101</c:v>
                </c:pt>
                <c:pt idx="4">
                  <c:v>104</c:v>
                </c:pt>
                <c:pt idx="5">
                  <c:v>100</c:v>
                </c:pt>
                <c:pt idx="6">
                  <c:v>100</c:v>
                </c:pt>
                <c:pt idx="7">
                  <c:v>101</c:v>
                </c:pt>
                <c:pt idx="8">
                  <c:v>101</c:v>
                </c:pt>
                <c:pt idx="9">
                  <c:v>100</c:v>
                </c:pt>
                <c:pt idx="10">
                  <c:v>101</c:v>
                </c:pt>
                <c:pt idx="11">
                  <c:v>100</c:v>
                </c:pt>
                <c:pt idx="12">
                  <c:v>101</c:v>
                </c:pt>
                <c:pt idx="13">
                  <c:v>102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8A9BB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 revenue share (%)</c:v>
                </c:pt>
              </c:strCache>
            </c:strRef>
          </c:tx>
          <c:spPr>
            <a:solidFill>
              <a:srgbClr val="3A5A7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C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Jul 25</c:v>
                  </c:pt>
                  <c:pt idx="1">
                    <c:v>Nov 25
(peak)</c:v>
                  </c:pt>
                  <c:pt idx="2">
                    <c:v>Aug 26
(current)</c:v>
                  </c:pt>
                  <c:pt idx="3">
                    <c:v>GMS
Target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16.3</c:v>
                </c:pt>
                <c:pt idx="2">
                  <c:v>19.7</c:v>
                </c:pt>
                <c:pt idx="3">
                  <c:v>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between visits</c:v>
                </c:pt>
              </c:strCache>
            </c:strRef>
          </c:tx>
          <c:spPr>
            <a:solidFill>
              <a:srgbClr val="FF5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C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Current
avg gap</c:v>
                  </c:pt>
                  <c:pt idx="1">
                    <c:v>Target
(GMS)</c:v>
                  </c:pt>
                  <c:pt idx="2">
                    <c:v>Best-in-class
AU QSR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12.5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Installs at target CPI ($3.50)</c:v>
                </c:pt>
              </c:strCache>
            </c:strRef>
          </c:tx>
          <c:spPr>
            <a:solidFill>
              <a:srgbClr val="FF5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C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Actual app
spend ($14.9K)</c:v>
                  </c:pt>
                  <c:pt idx="1">
                    <c:v>$50K app
budget</c:v>
                  </c:pt>
                  <c:pt idx="2">
                    <c:v>$100K app
budget</c:v>
                  </c:pt>
                  <c:pt idx="3">
                    <c:v>$240K brand
(if shifted)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4257</c:v>
                </c:pt>
                <c:pt idx="1">
                  <c:v>14286</c:v>
                </c:pt>
                <c:pt idx="2">
                  <c:v>28571</c:v>
                </c:pt>
                <c:pt idx="3">
                  <c:v>68571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 segments (estimated)</c:v>
                </c:pt>
              </c:strCache>
            </c:strRef>
          </c:tx>
          <c:spPr>
            <a:solidFill>
              <a:srgbClr val="3EC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CDB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C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5A7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Active
(&lt;14d)</c:v>
                  </c:pt>
                  <c:pt idx="1">
                    <c:v>At-Risk
(14–30d)</c:v>
                  </c:pt>
                  <c:pt idx="2">
                    <c:v>Lapsed
(30–90d)</c:v>
                  </c:pt>
                  <c:pt idx="3">
                    <c:v>Churned
(90d+)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15000</c:v>
                </c:pt>
                <c:pt idx="1">
                  <c:v>20000</c:v>
                </c:pt>
                <c:pt idx="2">
                  <c:v>30000</c:v>
                </c:pt>
                <c:pt idx="3">
                  <c:v>35000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$255K.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$14.9K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WORKED.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$255K has run through Meta since July 2025. $240K of it is brand and awareness.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App install, registration and reactivation campaigns total $14.9K — just 6% of total spend.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App install campaigns only started in June 2026, 14 months into the program.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Nov–Dec 2025 member surge ran on $88K of brand spend plus coupons, not app ads.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spend by objective, Jul 2025 to 17 Sep 2026: $255K total, $14.9K on app activity.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MONTHS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SPEND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36592" y="2212848"/>
            <a:ext cx="1161288" cy="3474720"/>
          </a:xfrm>
          <a:prstGeom prst="rect">
            <a:avLst/>
          </a:prstGeom>
          <a:solidFill>
            <a:srgbClr val="1A30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1772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From July 2025 to May 2026 — 11 months — zero budget went to app install campaigns.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App install campaigns launched June 2026, after 94% of the program's spend was already committed.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Nov–Dec 2025 member surge came from $88K brand spend and coupon drops, not performance ads.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Every dollar of member base growth through H2 2025 was earned through brand reach, not paid app acquisition.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campaign launch dates and spend allocation, Jul 2025 – Sep 2026. Brand spend estimated from total allocation.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$6.13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BUY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$6.13 CPI is the current result — four months into app install campaigns with limited creative testing.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GMS target CPI is under $3.50. The AU food app benchmark sits around $4.20.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CPI is expected to drop materially as creative is optimised and Advantage+ learns — early spend is always the most expensive.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At $3.50 CPI, a $50K app install budget delivers ~14,300 installs vs ~8,150 at current rates.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app install CPI: Oakberry AU, Jun–Sep 2026. Benchmark: AU food &amp; beverage app category. GMS internal target.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$88K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SURGE,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HABIT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Member share spiked to 16.3% in Nov 2025 on the back of $88K brand spend and coupon activation.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But visits per member stayed completely flat — it brought people in once, not more often.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After the surge, member share dipped to 12.5% in Dec before climbing again — a coupon hangover.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growth to 19%+ from Feb 2026 onward is structural — it came from a growing member base, not frequency.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share: Oakberry Power BI. Visits per member indexed to Jul 2025 = 100. Spend: Meta Ads Manager.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DIDN'T.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Weekly active members roughly doubled year-on-year — from ~1.3K to ~2.5K active per week.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Visits per member has sat at about 1.3 per week for a full year. It has not moved.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GA4 agrees: about 1.8 orders per month per ordering customer — unchanged before and after launch.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Around 1 in 5 app users places an order in a given month. Reach grew; habit did not.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to Jul 2025 = 100. Active members: Oakberry Power BI. Visits per member: Redcat transaction data.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TARGET.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Member revenue share has grown from 9% to 19.7% — a strong structural shift over 14 months.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GMS target is 25%. Closing that gap requires driving frequency, not just growing the member base.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Every 1pp of member share gained at current revenue scales is material — members spend more per visit.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path to 25% is not more brand reach. It is app-based remarketing targeting lapsed and at-risk members.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revenue share: Oakberry Power BI weekly data. GMS target: media strategy brief, Sep 2026.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DAYS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12–14.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average gap between visits is ~17 days. The GMS target is 12–14 days.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Closing that gap from 17 to 13 days means roughly 30% more visits per active member per year.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Brand advertising does not drive frequency. Push notifications, lapsed remarketing and in-app offers do.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Meta member retargeting (14-day and 30-day lapsed) is the highest-leverage tool available to move this number.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frequency: Redcat transaction data, member cohort. GMS target: media strategy brief. AU QSR benchmark: GMS internal.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$240K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US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At the GMS target CPI of $3.50, the $14.9K app spend delivered approximately 4,257 installs.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The same $240K committed to brand — if directed to app install — would yield ~68,500 installs at target CPI.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That is not a recommendation to zero brand. It is the opportunity cost sitting inside the current mix.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Even a 20% rebalance — $48K into app — buys ~13,700 installs and materially moves the member base.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at GMS target CPI of $3.50. Current app spend $14.9K Jun–Sep 2026. Brand spend $240K Jul 2025–Sep 2026.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MEMBERS.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RETARGETING.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12848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280160"/>
            <a:ext cx="5577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Oakberry has 100K+ identified members in Redcat. Zero of the $255K Meta spend has targeted them directly.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TalkBox enables Redcat → Meta custom audience sync. The pipeline exists. It has not been activated.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At-risk (14–30d) and lapsed (30–90d) segments represent the highest-ROAS opportunity in the database.</a:t>
            </a:r>
            <a:endParaRPr lang="en-US" sz="1650" dirty="0"/>
          </a:p>
          <a:p>
            <a:pPr indent="0" marL="0">
              <a:lnSpc>
                <a:spcPct val="130000"/>
              </a:lnSpc>
              <a:spcAft>
                <a:spcPts val="20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 GMS Reactivation ROAS target: ≥20x. Industry benchmark for CRM retargeting in AU food is 15–25x.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database: Redcat, Oakberry AU. Segment estimates based on standard QSR recency distribution. No Meta retargeting confirmed active.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98480" y="201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943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309360" y="1188720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1E32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$3.50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74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$6.13 today)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47888" y="1188720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1E32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47888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20x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47888" y="1874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ROAS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186416" y="1188720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1E32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186416" y="12618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186416" y="1874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revenue share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(from 19.7%)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2788920"/>
            <a:ext cx="5669280" cy="3246120"/>
          </a:xfrm>
          <a:prstGeom prst="roundRect">
            <a:avLst>
              <a:gd name="adj" fmla="val 2817"/>
            </a:avLst>
          </a:prstGeom>
          <a:solidFill>
            <a:srgbClr val="1625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brand-led reach to an app-led growth engine.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401568"/>
            <a:ext cx="5303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 and sign-up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growing the member base — but CPI must come down through creative iteration and Advantage+ optimisation.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retargeting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(14-day lapsed, 30-day lapsed, second-visit) goes after the one number that has not moved in a year: visits per member. TalkBox → Redcat sync makes this possible today.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running, weighted into the Oct–Feb peak, and is judged on awareness — not app results.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291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Media Group × Oakberry Australia. Media strategy summary, September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2026-09-18T05:34:36Z</dcterms:created>
  <dcterms:modified xsi:type="dcterms:W3CDTF">2026-09-18T05:34:36Z</dcterms:modified>
</cp:coreProperties>
</file>