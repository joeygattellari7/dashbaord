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1595.15</c:v>
                </c:pt>
                <c:pt idx="1">
                  <c:v>1219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ECDB3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16013.08</c:v>
                </c:pt>
                <c:pt idx="1">
                  <c:v>42574.07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July 2026</c:v>
                  </c:pt>
                  <c:pt idx="1">
                    <c:v>August 2026</c:v>
                  </c:pt>
                  <c:pt idx="2">
                    <c:v>Target (GMS)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10.04</c:v>
                </c:pt>
                <c:pt idx="1">
                  <c:v>34.93</c:v>
                </c:pt>
                <c:pt idx="2">
                  <c:v>20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Ad-exposed (%)</c:v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 (new members)</c:v>
                  </c:pt>
                  <c:pt idx="1">
                    <c:v>August (new members)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48.9</c:v>
                </c:pt>
                <c:pt idx="1">
                  <c:v>56.8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 — no ads (%)</c:v>
                </c:pt>
              </c:strCache>
            </c:strRef>
          </c:tx>
          <c:spPr>
            <a:solidFill>
              <a:srgbClr val="3A5A7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 (new members)</c:v>
                  </c:pt>
                  <c:pt idx="1">
                    <c:v>August (new members)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1.65</c:v>
                </c:pt>
                <c:pt idx="1">
                  <c:v>8.05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Ad-exposed avg spend ($)</c:v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25.1</c:v>
                </c:pt>
                <c:pt idx="1">
                  <c:v>28.67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 avg spend ($)</c:v>
                </c:pt>
              </c:strCache>
            </c:strRef>
          </c:tx>
          <c:spPr>
            <a:solidFill>
              <a:srgbClr val="3ECDB3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25.1</c:v>
                </c:pt>
                <c:pt idx="1">
                  <c:v>29.93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CPM ($)</c:v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Meta (Aug)</c:v>
                  </c:pt>
                  <c:pt idx="1">
                    <c:v>TikTok (Aug)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4.39</c:v>
                </c:pt>
                <c:pt idx="1">
                  <c:v>5.76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($)</c:v>
                </c:pt>
              </c:strCache>
            </c:strRef>
          </c:tx>
          <c:spPr>
            <a:solidFill>
              <a:srgbClr val="3A5A7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Meta (Aug)</c:v>
                  </c:pt>
                  <c:pt idx="1">
                    <c:v>TikTok (Aug)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754.92</c:v>
                </c:pt>
                <c:pt idx="1">
                  <c:v>620.85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8351</c:v>
                </c:pt>
                <c:pt idx="1">
                  <c:v>8023</c:v>
                </c:pt>
                <c:pt idx="2">
                  <c:v>3231</c:v>
                </c:pt>
                <c:pt idx="3">
                  <c:v>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4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NSW</c:v>
                  </c:pt>
                  <c:pt idx="1">
                    <c:v>QLD</c:v>
                  </c:pt>
                  <c:pt idx="2">
                    <c:v>VIC</c:v>
                  </c:pt>
                  <c:pt idx="3">
                    <c:v>WA</c:v>
                  </c:pt>
                  <c:pt idx="4">
                    <c:v>SA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7620</c:v>
                </c:pt>
                <c:pt idx="1">
                  <c:v>7121</c:v>
                </c:pt>
                <c:pt idx="2">
                  <c:v>3140</c:v>
                </c:pt>
                <c:pt idx="3">
                  <c:v>1301</c:v>
                </c:pt>
                <c:pt idx="4">
                  <c:v>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 list size</c:v>
                </c:pt>
              </c:strCache>
            </c:strRef>
          </c:tx>
          <c:spPr>
            <a:solidFill>
              <a:srgbClr val="3A5A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25301</c:v>
                </c:pt>
                <c:pt idx="1">
                  <c:v>26682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Transactors</c:v>
                </c:pt>
              </c:strCache>
            </c:strRef>
          </c:tx>
          <c:spPr>
            <a:solidFill>
              <a:srgbClr val="E854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July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647</c:v>
                </c:pt>
                <c:pt idx="1">
                  <c:v>1487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F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$2,814 IN.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$58,587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BACK.</a:t>
            </a:r>
            <a:endParaRPr lang="en-US" sz="5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Two months of reactivation campaigns. Total spend: $2,814. Total revenue returned: $58,587.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July: $1,595 spent, $16,013 in member revenue. ROAS 10.04x.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August: $1,219 spent, $42,574 in member revenue. ROAS 34.93x.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ROAS nearly tripled month-on-month as the methodology matured and the audience warmed.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Redcat transaction exports cross-referenced against Meta + TikTok campaign lists. Jul–Aug 2026.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34.93x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 IN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AUGUST</a:t>
            </a:r>
            <a:endParaRPr lang="en-US" sz="5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August ROAS came in at 34.93x — nearly double the GMS target of 20x and triple July’s result.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July: $1,595 spend → $16,013 revenue (10.04x). August: $1,219 spend → $42,574 revenue (34.93x).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Lower spend in August delivered higher revenue — the audience was better qualified and the holdout methodology was refined.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This is the highest proven ROI activity running in the Oakberry account across all channels.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calculated from Redcat revenue matched to ad-exposed member list. GMS target: ≥20x. Jul–Aug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30x MORE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LIKELY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RETURN</a:t>
            </a:r>
            <a:endParaRPr lang="en-US" sz="5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In July, new members who saw ads converted at 48.9%. The holdout with no ads: 1.65%. That’s 30x higher.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In August, ad-exposed new members converted at 56.8% vs 8.05% for the holdout group — 7x higher.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holdout group is 50% of brand new members who never received any ad. It’s a clean control.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Two consecutive months confirm the same finding: ads drive materially higher reactivation rates.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methodology: 50% of new members receive no ads. Conversion matched via Redcat transaction export. Jul–Aug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ADS DRIVE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VOLUME,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SPEND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SIZE</a:t>
            </a:r>
            <a:endParaRPr lang="en-US" sz="4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Average transaction value is nearly identical between ad-exposed and holdout groups: $28.67 vs $29.93 in August.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Ads do not inflate basket size. They drive the decision to return at all.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This means every dollar of ROAS improvement comes from getting more members through the door — not upselling.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Implication: volume is the lever. Scale the audience, and revenue scales proportionally.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per transacting member. Ad-exposed vs holdout. Redcat revenue matched to member list. Aug 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BEATS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CPM</a:t>
            </a:r>
            <a:endParaRPr lang="en-US" sz="4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Meta CPM: $4.39. TikTok CPM: $5.76. Meta delivers 24% cheaper impressions for the same reactivation audience.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Both platforms use the same custom member list uploaded from Redcat via TalkBox.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Meta reached 19,857 unique members in August. TikTok delivered 107,770 impressions (reach not reported separately).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Both platforms skew heavily 18–34: Meta 84.8% of spend in that bracket, TikTok 85.5%.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Manager + TikTok Ads Manager. August 2026 reactivation campaign. Same audience list both platforms.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FREQUENCY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8.66.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SATURATED.</a:t>
            </a:r>
            <a:endParaRPr lang="en-US" sz="5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Meta frequency reached 8.66 in August — the same ~19K members saw the ad nearly 9 times.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This is a saturation signal. The audience is exhausted and needs a fresh list to stay efficient.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monthly list rebuild from Redcat solves this: each month a new cohort enters, the saturated audience drops off.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18–24 and 25–34 dominate reach (8,351 and 8,023). 45–54 gets minimal delivery at 244 reached.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Manager, August 2026 reactivation. Reach by age. Frequency: 171,893 impressions ÷ 19,857 reach = 8.66.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FEMALE.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 IT.</a:t>
            </a:r>
            <a:endParaRPr lang="en-US" sz="5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74% of Meta reach in August went to female members. 26% male. This mirrors the Oakberry member base skew.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Creative and messaging should be built for this audience — not a generic split.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18–34 female cohort is the reactivation sweet spot: highest reach, most responsive, lowest CPM.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TikTok skews similarly: 18–34 accounts for 85.5% of spend. The audience profile is consistent across platforms.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Manager, August 2026 reactivation campaign. Gender breakdown by reach and spend.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NSW +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QLD =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 OF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</a:t>
            </a:r>
            <a:endParaRPr lang="en-US" sz="4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NSW (7,620 reach, $279) and QLD (7,121 reach, $272) together account for 74% of Meta reactivation reach.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VIC is third at 3,140 reach but significantly lower — consistent with Oakberry’s store footprint.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CPM is consistent across all states ($4.10–$4.43) — no significant state-level efficiency gap.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State weighting should follow store count and member database density as more locations open.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Manager, August 2026 reactivation. Reach and spend by state. CPM range $4.10–$4.43 across all states.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PROVEN.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TWICE.</a:t>
            </a:r>
            <a:endParaRPr lang="en-US" sz="4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33172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188720"/>
            <a:ext cx="5669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July: 25,301 members in campaign list. 647 transacted (2.56%). Holdout: 425 members, 7 transacted (1.65%).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August: 26,682 in campaign. 1,487 transacted (5.57%). Holdout: 609 members, 49 transacted (8.05%).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holdout is always 50% of brand new members — never previously in any list, no ads served. Clean control.</a:t>
            </a:r>
            <a:endParaRPr lang="en-US" sz="1550" dirty="0"/>
          </a:p>
          <a:p>
            <a:pPr indent="0" marL="0">
              <a:lnSpc>
                <a:spcPct val="130000"/>
              </a:lnSpc>
              <a:spcAft>
                <a:spcPts val="2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Same methodology. Same direction. Two months of validation. The model works — now scale it.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monthly Redcat export → Meta + TikTok upload. 50% holdout of new members. Revenue matched post-campaign.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6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6263640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C2F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63640" y="11887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34.93x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9019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ROAS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38744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C2F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38744" y="11887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$4.39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38744" y="19019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CPM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13848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C2F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13848" y="11887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30x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0213848" y="19019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no ads (July)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697480"/>
            <a:ext cx="5669280" cy="3401568"/>
          </a:xfrm>
          <a:prstGeom prst="roundRect">
            <a:avLst>
              <a:gd name="adj" fmla="val 2688"/>
            </a:avLst>
          </a:prstGeom>
          <a:solidFill>
            <a:srgbClr val="1625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834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reactivation model is the highest-ROI activity in the account.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310128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now: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monthly reactivation spend. At 34x ROAS the budget ceiling hasn’t been found.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audience list monthly. Frequency saturation at 8.66 demands it.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first. $4.39 CPM outperforms TikTok’s $5.76 for this audience type.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results will determine whether ROAS holds at scale. Check Redcat post-campaign.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093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Media Group × Oakberry Australia. Reactivation campaign results, Jul–Aug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2026-09-18T05:48:13Z</dcterms:created>
  <dcterms:modified xsi:type="dcterms:W3CDTF">2026-09-18T05:48:13Z</dcterms:modified>
</cp:coreProperties>
</file>