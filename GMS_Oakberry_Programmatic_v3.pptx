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94360" y="2084832"/>
            <a:ext cx="54864" cy="2651760"/>
          </a:xfrm>
          <a:prstGeom prst="roundRect">
            <a:avLst>
              <a:gd name="adj" fmla="val 50000"/>
            </a:avLst>
          </a:prstGeom>
          <a:solidFill>
            <a:srgbClr val="5FD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76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GMS × Oakberry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6060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8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Programmatic</a:t>
            </a:r>
            <a:endParaRPr lang="en-US" sz="5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8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Strategy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902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Powered by Blis · Location Intelligence · Rich Media Display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74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campaigns. Three Blis audience types. App Install → Evergreen → Promo cycle.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Oakberry Australia · September 2026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46943" y="6537960"/>
            <a:ext cx="82296" cy="82296"/>
          </a:xfrm>
          <a:prstGeom prst="ellipse">
            <a:avLst/>
          </a:prstGeom>
          <a:solidFill>
            <a:srgbClr val="5FD39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48111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49279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50447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PROGRAMMATIC CAMPAIGN ARCHITECTURE · POWERED BY BLIS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91440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Campaigns → Three Audience Types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Blis audience type feeds both campaigns — targeting method and signal quality vary by audience.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142B3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59152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1E5C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59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C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01 · App Install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163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 App Downloads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via Location Signals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39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Incentivised offer · split URL · rich media only · device in hand = immediacy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29768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142B3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507992"/>
            <a:ext cx="1920240" cy="320040"/>
          </a:xfrm>
          <a:prstGeom prst="roundRect">
            <a:avLst>
              <a:gd name="adj" fmla="val 50000"/>
            </a:avLst>
          </a:prstGeom>
          <a:solidFill>
            <a:srgbClr val="2D4A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07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02 · Member Retargeting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651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Re-engage Members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Recency &amp; Location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88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Evergreen always-on + promo activation · dynamic creative · cycles back after each promo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 by audience 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21488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1A3348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240" y="2377440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1E5C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35240" y="23774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C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331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In-Proximity Now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8072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Tight store radius (≤200m) · always-on during trading hours · highest-intent signal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0" y="361188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1A3348"/>
          </a:solidFill>
          <a:ln/>
        </p:spPr>
      </p:sp>
      <p:sp>
        <p:nvSpPr>
          <p:cNvPr id="23" name="Shape 21"/>
          <p:cNvSpPr/>
          <p:nvPr/>
        </p:nvSpPr>
        <p:spPr>
          <a:xfrm>
            <a:off x="7635240" y="3840480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3F2B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35240" y="384048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4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Historical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3794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2+ Visits / 6 Months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42702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Frequent store visitors · best install candidates · proven physical behaviour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507492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1A3348"/>
          </a:solidFill>
          <a:ln/>
        </p:spPr>
      </p:sp>
      <p:sp>
        <p:nvSpPr>
          <p:cNvPr id="28" name="Shape 26"/>
          <p:cNvSpPr/>
          <p:nvPr/>
        </p:nvSpPr>
        <p:spPr>
          <a:xfrm>
            <a:off x="7635240" y="5303520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0F3F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35240" y="53035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5257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Catchment · Key Periods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57332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Mornings &amp; weekends · dynamic creative by time + location · in-catchment targeting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43400" y="3108960"/>
            <a:ext cx="1554480" cy="0"/>
          </a:xfrm>
          <a:prstGeom prst="line">
            <a:avLst/>
          </a:prstGeom>
          <a:noFill/>
          <a:ln w="15240">
            <a:solidFill>
              <a:srgbClr val="1E5C8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343400" y="5257800"/>
            <a:ext cx="1554480" cy="0"/>
          </a:xfrm>
          <a:prstGeom prst="line">
            <a:avLst/>
          </a:prstGeom>
          <a:noFill/>
          <a:ln w="15240">
            <a:solidFill>
              <a:srgbClr val="2D4A1E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843016" y="3054096"/>
            <a:ext cx="109728" cy="109728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35" name="Shape 33"/>
          <p:cNvSpPr/>
          <p:nvPr/>
        </p:nvSpPr>
        <p:spPr>
          <a:xfrm>
            <a:off x="5843016" y="5202936"/>
            <a:ext cx="109728" cy="109728"/>
          </a:xfrm>
          <a:prstGeom prst="ellipse">
            <a:avLst/>
          </a:prstGeom>
          <a:solidFill>
            <a:srgbClr val="5FD39A"/>
          </a:solidFill>
          <a:ln/>
        </p:spPr>
      </p:sp>
      <p:sp>
        <p:nvSpPr>
          <p:cNvPr id="36" name="Shape 34"/>
          <p:cNvSpPr/>
          <p:nvPr/>
        </p:nvSpPr>
        <p:spPr>
          <a:xfrm>
            <a:off x="5897880" y="3108960"/>
            <a:ext cx="0" cy="2148840"/>
          </a:xfrm>
          <a:prstGeom prst="line">
            <a:avLst/>
          </a:prstGeom>
          <a:noFill/>
          <a:ln w="15240">
            <a:solidFill>
              <a:srgbClr val="2E445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897880" y="2811780"/>
            <a:ext cx="1508760" cy="0"/>
          </a:xfrm>
          <a:prstGeom prst="line">
            <a:avLst/>
          </a:prstGeom>
          <a:noFill/>
          <a:ln w="15240">
            <a:solidFill>
              <a:srgbClr val="2E4455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843016" y="2756916"/>
            <a:ext cx="109728" cy="109728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39" name="Shape 37"/>
          <p:cNvSpPr/>
          <p:nvPr/>
        </p:nvSpPr>
        <p:spPr>
          <a:xfrm>
            <a:off x="7324344" y="2756916"/>
            <a:ext cx="109728" cy="109728"/>
          </a:xfrm>
          <a:prstGeom prst="ellipse">
            <a:avLst/>
          </a:prstGeom>
          <a:solidFill>
            <a:srgbClr val="A9B7C0"/>
          </a:solidFill>
          <a:ln/>
        </p:spPr>
      </p:sp>
      <p:sp>
        <p:nvSpPr>
          <p:cNvPr id="40" name="Shape 38"/>
          <p:cNvSpPr/>
          <p:nvPr/>
        </p:nvSpPr>
        <p:spPr>
          <a:xfrm>
            <a:off x="5897880" y="4274820"/>
            <a:ext cx="1508760" cy="0"/>
          </a:xfrm>
          <a:prstGeom prst="line">
            <a:avLst/>
          </a:prstGeom>
          <a:noFill/>
          <a:ln w="15240">
            <a:solidFill>
              <a:srgbClr val="2E4455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843016" y="4219956"/>
            <a:ext cx="109728" cy="109728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42" name="Shape 40"/>
          <p:cNvSpPr/>
          <p:nvPr/>
        </p:nvSpPr>
        <p:spPr>
          <a:xfrm>
            <a:off x="7324344" y="4219956"/>
            <a:ext cx="109728" cy="109728"/>
          </a:xfrm>
          <a:prstGeom prst="ellipse">
            <a:avLst/>
          </a:prstGeom>
          <a:solidFill>
            <a:srgbClr val="A9B7C0"/>
          </a:solidFill>
          <a:ln/>
        </p:spPr>
      </p:sp>
      <p:sp>
        <p:nvSpPr>
          <p:cNvPr id="43" name="Shape 41"/>
          <p:cNvSpPr/>
          <p:nvPr/>
        </p:nvSpPr>
        <p:spPr>
          <a:xfrm>
            <a:off x="5897880" y="5737860"/>
            <a:ext cx="1508760" cy="0"/>
          </a:xfrm>
          <a:prstGeom prst="line">
            <a:avLst/>
          </a:prstGeom>
          <a:noFill/>
          <a:ln w="15240">
            <a:solidFill>
              <a:srgbClr val="2E4455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843016" y="5682996"/>
            <a:ext cx="109728" cy="109728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45" name="Shape 43"/>
          <p:cNvSpPr/>
          <p:nvPr/>
        </p:nvSpPr>
        <p:spPr>
          <a:xfrm>
            <a:off x="7324344" y="5682996"/>
            <a:ext cx="109728" cy="109728"/>
          </a:xfrm>
          <a:prstGeom prst="ellipse">
            <a:avLst/>
          </a:prstGeom>
          <a:solidFill>
            <a:srgbClr val="A9B7C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746943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48111" y="6537960"/>
            <a:ext cx="82296" cy="82296"/>
          </a:xfrm>
          <a:prstGeom prst="ellipse">
            <a:avLst/>
          </a:prstGeom>
          <a:solidFill>
            <a:srgbClr val="5FD39A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49279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50447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PROGRAMMATIC CONTENT · PRE-CAMPAIGN BRIEF · CAMPAIGN CYCLE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91440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Goes Into Each Campaign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0" y="1691640"/>
            <a:ext cx="4553712" cy="320040"/>
          </a:xfrm>
          <a:prstGeom prst="roundRect">
            <a:avLst>
              <a:gd name="adj" fmla="val 17143"/>
            </a:avLst>
          </a:prstGeom>
          <a:solidFill>
            <a:srgbClr val="1E5C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38528" y="1691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C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01 · App Install — Rich Media, Split URL, Incentivised Offer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4553712" cy="320040"/>
          </a:xfrm>
          <a:prstGeom prst="roundRect">
            <a:avLst>
              <a:gd name="adj" fmla="val 17143"/>
            </a:avLst>
          </a:prstGeom>
          <a:solidFill>
            <a:srgbClr val="2D4A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1968" y="1691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02 · Member Retargeting — Evergreen → Promo → Evergreen Cycle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0652760" cy="310896"/>
          </a:xfrm>
          <a:prstGeom prst="rect">
            <a:avLst/>
          </a:prstGeom>
          <a:solidFill>
            <a:srgbClr val="1A33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" y="201168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BLIS AUDIENCE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1938528" y="201168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4270248" y="201168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 FORMAT + SPLIT URL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201168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8933688" y="201168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 FORMAT + CREATIVE STATE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2322576"/>
            <a:ext cx="10652760" cy="1170432"/>
          </a:xfrm>
          <a:prstGeom prst="rect">
            <a:avLst/>
          </a:prstGeom>
          <a:solidFill>
            <a:srgbClr val="142B3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523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E5C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7523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C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938528" y="2414016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right next to us. Download the app and claim your offer now. Highest urgency — device in hand.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70248" y="2414016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Rich media expandable · store locator + app download CTA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 URL: app open → offer · no app → App Store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2414016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nearby — here's what's on right now. Product + ambient. Promo triggers when activation is live.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33688" y="2414016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Evergreen: product/menu dynamic · Promo: offer overlay activates on promo start, reverts same day promo ends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977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F2B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977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4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Historical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938528" y="3639312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been in before — now get the most out of every visit. App download = exclusive access.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270248" y="3639312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Rich media · loyalty benefit showcase + install CTA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 URL: existing app users routed to offer, not store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01968" y="3639312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Welcome back. Here's what's new since your last visit. Promo when live — deepest offer for proven visitors.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933688" y="3639312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Evergreen: 'new since you last visited' product rotation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Promo: strongest offer tier — this audience has highest ROAS potential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773168"/>
            <a:ext cx="10652760" cy="1170432"/>
          </a:xfrm>
          <a:prstGeom prst="rect">
            <a:avLst/>
          </a:prstGeom>
          <a:solidFill>
            <a:srgbClr val="142B3C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520293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F3F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2029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938528" y="4864608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 morning — Oakberry is 5 minutes away. Download the app and order ahead. Time-triggered, location-aware.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270248" y="4864608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Dynamic rich media · time + location personalised headline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 URL: order-ahead deep-link (app) or App Store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01968" y="4864608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Morning, weekend, near you. Right message, right moment. Dynamic creative matches time of day and period.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933688" y="4864608"/>
            <a:ext cx="2075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Evergreen: dynamic time/location headline rotation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Promo: LAM timing layer added to promo creative — morning + weekend amplified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6053328"/>
            <a:ext cx="10652760" cy="502920"/>
          </a:xfrm>
          <a:prstGeom prst="roundRect">
            <a:avLst>
              <a:gd name="adj" fmla="val 14545"/>
            </a:avLst>
          </a:prstGeom>
          <a:solidFill>
            <a:srgbClr val="1A334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5800" y="6126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PLACEMENTS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0" y="614476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0F3F2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103120" y="6144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In-App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41648" y="614476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0F3F2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133088" y="6144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Web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71616" y="614476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0F3F2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63056" y="6144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Rich Media Expandable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30184" y="6144768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2E1A1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30184" y="61447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Desktop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74936" y="6144768"/>
            <a:ext cx="1325880" cy="320040"/>
          </a:xfrm>
          <a:prstGeom prst="roundRect">
            <a:avLst>
              <a:gd name="adj" fmla="val 17143"/>
            </a:avLst>
          </a:prstGeom>
          <a:solidFill>
            <a:srgbClr val="2E1A1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774936" y="61447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4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Pre-Roll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6611112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1A334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5800" y="66659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02 CYCLE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2450592" y="67391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Install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3511296" y="67391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3913632" y="67391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Evergreen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974336" y="67391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5376672" y="67391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Promo Active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528816" y="67391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931152" y="67391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Evergreen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991856" y="67391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8394192" y="67391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Promo Active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546336" y="67391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…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640080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746943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61" name="Shape 59"/>
          <p:cNvSpPr/>
          <p:nvPr/>
        </p:nvSpPr>
        <p:spPr>
          <a:xfrm>
            <a:off x="10948111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62" name="Shape 60"/>
          <p:cNvSpPr/>
          <p:nvPr/>
        </p:nvSpPr>
        <p:spPr>
          <a:xfrm>
            <a:off x="11149279" y="6537960"/>
            <a:ext cx="82296" cy="82296"/>
          </a:xfrm>
          <a:prstGeom prst="ellipse">
            <a:avLst/>
          </a:prstGeom>
          <a:solidFill>
            <a:srgbClr val="5FD39A"/>
          </a:solidFill>
          <a:ln/>
        </p:spPr>
      </p:sp>
      <p:sp>
        <p:nvSpPr>
          <p:cNvPr id="63" name="Shape 61"/>
          <p:cNvSpPr/>
          <p:nvPr/>
        </p:nvSpPr>
        <p:spPr>
          <a:xfrm>
            <a:off x="11350447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81360" y="320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PROGRAMMATIC TRACKING &amp; ATTRIBUTION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9144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Closing the Loop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Blis confirms physical presence. TalkBox closes the CRM loop. Artiq BI validates the business outcome.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3547872" cy="3749040"/>
          </a:xfrm>
          <a:prstGeom prst="roundRect">
            <a:avLst>
              <a:gd name="adj" fmla="val 2062"/>
            </a:avLst>
          </a:prstGeom>
          <a:solidFill>
            <a:srgbClr val="142B3C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2322576"/>
            <a:ext cx="1280160" cy="301752"/>
          </a:xfrm>
          <a:prstGeom prst="roundRect">
            <a:avLst>
              <a:gd name="adj" fmla="val 50000"/>
            </a:avLst>
          </a:prstGeom>
          <a:solidFill>
            <a:srgbClr val="0F3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3225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74320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Location Intelligence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291840"/>
            <a:ext cx="31455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Confirms ad exposure happened at or near the store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visit uplift: Blis-exposed vs. matched control group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Historical audience refreshed monthly — re-pulls 2+/mo visitors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 audience quality validation — are catchment users converting?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Footfall attribution per campaign type (install vs. retargeting)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2121408"/>
            <a:ext cx="3547872" cy="3749040"/>
          </a:xfrm>
          <a:prstGeom prst="roundRect">
            <a:avLst>
              <a:gd name="adj" fmla="val 2062"/>
            </a:avLst>
          </a:prstGeom>
          <a:solidFill>
            <a:srgbClr val="142B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9704" y="2322576"/>
            <a:ext cx="1280160" cy="301752"/>
          </a:xfrm>
          <a:prstGeom prst="roundRect">
            <a:avLst>
              <a:gd name="adj" fmla="val 50000"/>
            </a:avLst>
          </a:prstGeom>
          <a:solidFill>
            <a:srgbClr val="1E5C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9704" y="23225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C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TalkBox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89704" y="274320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CRM &amp; Audience Match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89704" y="3291840"/>
            <a:ext cx="31455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Redcat member export → DSP custom audience onboarding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Confirms match rates + segment sizes before each flight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Recency bucket shifts flagged → audience refresh triggered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Post-campaign: confirms member transacted after ad exposure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Audience exclusions: prevent active purchasers hitting lapsed ads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10144" y="2121408"/>
            <a:ext cx="3547872" cy="3749040"/>
          </a:xfrm>
          <a:prstGeom prst="roundRect">
            <a:avLst>
              <a:gd name="adj" fmla="val 2062"/>
            </a:avLst>
          </a:prstGeom>
          <a:solidFill>
            <a:srgbClr val="142B3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11312" y="2322576"/>
            <a:ext cx="1280160" cy="301752"/>
          </a:xfrm>
          <a:prstGeom prst="roundRect">
            <a:avLst>
              <a:gd name="adj" fmla="val 50000"/>
            </a:avLst>
          </a:prstGeom>
          <a:solidFill>
            <a:srgbClr val="2D4A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11312" y="232257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Artiq BI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274320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Outcomes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3291840"/>
            <a:ext cx="31455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ROAS by campaign state — install vs. evergreen vs. promo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Visit frequency delta: target 12–14 days vs current ~17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revenue share: target 25% vs current 19.7%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install conversion: impression → first open → first order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Promo lift: revenue delta vs prior evergreen baseline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961888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1A334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5989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AUDIENCE REFRESH CADENCE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5961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7EC8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6263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Always-on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5961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FFC4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Historical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6263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Monthly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961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FD3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6263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4E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Always-on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6208" y="5961888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1A334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59984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REACTIVATION ROAS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836408" y="59801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20x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6199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DSP benchmark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69680" y="5961888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1A334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34272" y="59984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VISIT UPLIFT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469880" y="59801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 15%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034272" y="6199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Blis exposed vs control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36208" y="5961888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1A334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59984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INSTALL CPI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836408" y="59801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$3.50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6199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Rich media only target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887968" y="5961888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1A334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052560" y="59984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AUDIENCE REFRESH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0488168" y="598017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7C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48 hrs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6199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Redcat → DSP sync SLA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492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746943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48111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49279" y="6537960"/>
            <a:ext cx="82296" cy="82296"/>
          </a:xfrm>
          <a:prstGeom prst="ellipse">
            <a:avLst/>
          </a:prstGeom>
          <a:solidFill>
            <a:srgbClr val="2E4455"/>
          </a:solidFill>
          <a:ln/>
        </p:spPr>
      </p:sp>
      <p:sp>
        <p:nvSpPr>
          <p:cNvPr id="49" name="Shape 47"/>
          <p:cNvSpPr/>
          <p:nvPr/>
        </p:nvSpPr>
        <p:spPr>
          <a:xfrm>
            <a:off x="11350447" y="6537960"/>
            <a:ext cx="82296" cy="82296"/>
          </a:xfrm>
          <a:prstGeom prst="ellipse">
            <a:avLst/>
          </a:prstGeom>
          <a:solidFill>
            <a:srgbClr val="5FD39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2026-09-18T05:18:17Z</dcterms:created>
  <dcterms:modified xsi:type="dcterms:W3CDTF">2026-09-18T05:18:17Z</dcterms:modified>
</cp:coreProperties>
</file>